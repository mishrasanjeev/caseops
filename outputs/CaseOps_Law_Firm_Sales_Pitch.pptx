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a588b8e394a2d" /><Relationship Type="http://schemas.openxmlformats.org/officeDocument/2006/relationships/extended-properties" Target="/docProps/app.xml" Id="Racd9220c764b45b2" /><Relationship Type="http://schemas.openxmlformats.org/officeDocument/2006/relationships/officeDocument" Target="/ppt/presentation.xml" Id="R042be8a23bc4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4723592a5e461e"/>
  </p:sldMasterIdLst>
  <p:notesMasterIdLst>
    <p:notesMasterId xmlns:r="http://schemas.openxmlformats.org/officeDocument/2006/relationships" r:id="R6010c81aac0f4df5"/>
  </p:notesMasterIdLst>
  <p:sldIdLst>
    <p:sldId xmlns:r="http://schemas.openxmlformats.org/officeDocument/2006/relationships" id="256" r:id="Rd07c0150b3d245be"/>
    <p:sldId xmlns:r="http://schemas.openxmlformats.org/officeDocument/2006/relationships" id="257" r:id="R867f3dde09624ff5"/>
    <p:sldId xmlns:r="http://schemas.openxmlformats.org/officeDocument/2006/relationships" id="258" r:id="Rcc93a12b25724a2e"/>
    <p:sldId xmlns:r="http://schemas.openxmlformats.org/officeDocument/2006/relationships" id="259" r:id="R84956f064a6445a6"/>
    <p:sldId xmlns:r="http://schemas.openxmlformats.org/officeDocument/2006/relationships" id="260" r:id="R00f2828a7496426f"/>
    <p:sldId xmlns:r="http://schemas.openxmlformats.org/officeDocument/2006/relationships" id="261" r:id="R4d8eb10eda724a3c"/>
    <p:sldId xmlns:r="http://schemas.openxmlformats.org/officeDocument/2006/relationships" id="262" r:id="R24d3a2d2b5484f96"/>
    <p:sldId xmlns:r="http://schemas.openxmlformats.org/officeDocument/2006/relationships" id="263" r:id="R487445a0b4224391"/>
    <p:sldId xmlns:r="http://schemas.openxmlformats.org/officeDocument/2006/relationships" id="264" r:id="Rf7244f8447294a34"/>
    <p:sldId xmlns:r="http://schemas.openxmlformats.org/officeDocument/2006/relationships" id="265" r:id="R6861030d93fd49a4"/>
    <p:sldId xmlns:r="http://schemas.openxmlformats.org/officeDocument/2006/relationships" id="266" r:id="Re2a8786b0d534829"/>
    <p:sldId xmlns:r="http://schemas.openxmlformats.org/officeDocument/2006/relationships" id="267" r:id="Ra0e07d36d29d4b26"/>
    <p:sldId xmlns:r="http://schemas.openxmlformats.org/officeDocument/2006/relationships" id="268" r:id="Rab886527a0424799"/>
    <p:sldId xmlns:r="http://schemas.openxmlformats.org/officeDocument/2006/relationships" id="269" r:id="R34d50e3eb7394c23"/>
    <p:sldId xmlns:r="http://schemas.openxmlformats.org/officeDocument/2006/relationships" id="270" r:id="R819a6676c1524877"/>
    <p:sldId xmlns:r="http://schemas.openxmlformats.org/officeDocument/2006/relationships" id="271" r:id="R53fe5b1ef72b46c8"/>
    <p:sldId xmlns:r="http://schemas.openxmlformats.org/officeDocument/2006/relationships" id="272" r:id="R9fcda902ce184e26"/>
    <p:sldId xmlns:r="http://schemas.openxmlformats.org/officeDocument/2006/relationships" id="273" r:id="R24342560ae304818"/>
    <p:sldId xmlns:r="http://schemas.openxmlformats.org/officeDocument/2006/relationships" id="274" r:id="R7f97f7968f0c4f3e"/>
    <p:sldId xmlns:r="http://schemas.openxmlformats.org/officeDocument/2006/relationships" id="275" r:id="R93d1a56790e14684"/>
    <p:sldId xmlns:r="http://schemas.openxmlformats.org/officeDocument/2006/relationships" id="276" r:id="R09b20618ee8a4840"/>
    <p:sldId xmlns:r="http://schemas.openxmlformats.org/officeDocument/2006/relationships" id="277" r:id="R7783bd9255804913"/>
    <p:sldId xmlns:r="http://schemas.openxmlformats.org/officeDocument/2006/relationships" id="278" r:id="R5905841c32ef4865"/>
    <p:sldId xmlns:r="http://schemas.openxmlformats.org/officeDocument/2006/relationships" id="279" r:id="R0254d223de6c4724"/>
    <p:sldId xmlns:r="http://schemas.openxmlformats.org/officeDocument/2006/relationships" id="280" r:id="R1578a33dbd1349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ffdf703166409f" /><Relationship Type="http://schemas.openxmlformats.org/officeDocument/2006/relationships/slideMaster" Target="/ppt/slideMasters/slideMaster1.xml" Id="R924723592a5e461e" /><Relationship Type="http://schemas.openxmlformats.org/officeDocument/2006/relationships/notesMaster" Target="/ppt/notesMasters/notesMaster1.xml" Id="R6010c81aac0f4df5" /><Relationship Type="http://schemas.openxmlformats.org/officeDocument/2006/relationships/presProps" Target="/ppt/presProps.xml" Id="Rcf9959c6d82d4371" /><Relationship Type="http://schemas.openxmlformats.org/officeDocument/2006/relationships/tableStyles" Target="/ppt/tableStyles.xml" Id="R0096f9b307c14d08" /><Relationship Type="http://schemas.openxmlformats.org/officeDocument/2006/relationships/slide" Target="/ppt/slides/slide1.xml" Id="Rd07c0150b3d245be" /><Relationship Type="http://schemas.openxmlformats.org/officeDocument/2006/relationships/slide" Target="/ppt/slides/slide2.xml" Id="R867f3dde09624ff5" /><Relationship Type="http://schemas.openxmlformats.org/officeDocument/2006/relationships/slide" Target="/ppt/slides/slide3.xml" Id="Rcc93a12b25724a2e" /><Relationship Type="http://schemas.openxmlformats.org/officeDocument/2006/relationships/slide" Target="/ppt/slides/slide4.xml" Id="R84956f064a6445a6" /><Relationship Type="http://schemas.openxmlformats.org/officeDocument/2006/relationships/slide" Target="/ppt/slides/slide5.xml" Id="R00f2828a7496426f" /><Relationship Type="http://schemas.openxmlformats.org/officeDocument/2006/relationships/slide" Target="/ppt/slides/slide6.xml" Id="R4d8eb10eda724a3c" /><Relationship Type="http://schemas.openxmlformats.org/officeDocument/2006/relationships/slide" Target="/ppt/slides/slide7.xml" Id="R24d3a2d2b5484f96" /><Relationship Type="http://schemas.openxmlformats.org/officeDocument/2006/relationships/slide" Target="/ppt/slides/slide8.xml" Id="R487445a0b4224391" /><Relationship Type="http://schemas.openxmlformats.org/officeDocument/2006/relationships/slide" Target="/ppt/slides/slide9.xml" Id="Rf7244f8447294a34" /><Relationship Type="http://schemas.openxmlformats.org/officeDocument/2006/relationships/slide" Target="/ppt/slides/slide10.xml" Id="R6861030d93fd49a4" /><Relationship Type="http://schemas.openxmlformats.org/officeDocument/2006/relationships/slide" Target="/ppt/slides/slide11.xml" Id="Re2a8786b0d534829" /><Relationship Type="http://schemas.openxmlformats.org/officeDocument/2006/relationships/slide" Target="/ppt/slides/slide12.xml" Id="Ra0e07d36d29d4b26" /><Relationship Type="http://schemas.openxmlformats.org/officeDocument/2006/relationships/slide" Target="/ppt/slides/slide13.xml" Id="Rab886527a0424799" /><Relationship Type="http://schemas.openxmlformats.org/officeDocument/2006/relationships/slide" Target="/ppt/slides/slide14.xml" Id="R34d50e3eb7394c23" /><Relationship Type="http://schemas.openxmlformats.org/officeDocument/2006/relationships/slide" Target="/ppt/slides/slide15.xml" Id="R819a6676c1524877" /><Relationship Type="http://schemas.openxmlformats.org/officeDocument/2006/relationships/slide" Target="/ppt/slides/slide16.xml" Id="R53fe5b1ef72b46c8" /><Relationship Type="http://schemas.openxmlformats.org/officeDocument/2006/relationships/slide" Target="/ppt/slides/slide17.xml" Id="R9fcda902ce184e26" /><Relationship Type="http://schemas.openxmlformats.org/officeDocument/2006/relationships/slide" Target="/ppt/slides/slide18.xml" Id="R24342560ae304818" /><Relationship Type="http://schemas.openxmlformats.org/officeDocument/2006/relationships/slide" Target="/ppt/slides/slide19.xml" Id="R7f97f7968f0c4f3e" /><Relationship Type="http://schemas.openxmlformats.org/officeDocument/2006/relationships/slide" Target="/ppt/slides/slide20.xml" Id="R93d1a56790e14684" /><Relationship Type="http://schemas.openxmlformats.org/officeDocument/2006/relationships/slide" Target="/ppt/slides/slide21.xml" Id="R09b20618ee8a4840" /><Relationship Type="http://schemas.openxmlformats.org/officeDocument/2006/relationships/slide" Target="/ppt/slides/slide22.xml" Id="R7783bd9255804913" /><Relationship Type="http://schemas.openxmlformats.org/officeDocument/2006/relationships/slide" Target="/ppt/slides/slide23.xml" Id="R5905841c32ef4865" /><Relationship Type="http://schemas.openxmlformats.org/officeDocument/2006/relationships/slide" Target="/ppt/slides/slide24.xml" Id="R0254d223de6c4724" /><Relationship Type="http://schemas.openxmlformats.org/officeDocument/2006/relationships/slide" Target="/ppt/slides/slide25.xml" Id="R1578a33dbd13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976b76e414a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61fe7e089749b4" /><Relationship Type="http://schemas.openxmlformats.org/officeDocument/2006/relationships/notesMaster" Target="/ppt/notesMasters/notesMaster1.xml" Id="Ra8d933ab29a8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9ee8b6a51c4724" /><Relationship Type="http://schemas.openxmlformats.org/officeDocument/2006/relationships/notesMaster" Target="/ppt/notesMasters/notesMaster1.xml" Id="R14d9a039e37a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ef542b54c042c3" /><Relationship Type="http://schemas.openxmlformats.org/officeDocument/2006/relationships/notesMaster" Target="/ppt/notesMasters/notesMaster1.xml" Id="R85c3265d4fd34e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8bbc8bf994de9" /><Relationship Type="http://schemas.openxmlformats.org/officeDocument/2006/relationships/notesMaster" Target="/ppt/notesMasters/notesMaster1.xml" Id="R782f14dc5e73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8e16562f2546e6" /><Relationship Type="http://schemas.openxmlformats.org/officeDocument/2006/relationships/notesMaster" Target="/ppt/notesMasters/notesMaster1.xml" Id="R8cb636742dc543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afc643289f4810" /><Relationship Type="http://schemas.openxmlformats.org/officeDocument/2006/relationships/notesMaster" Target="/ppt/notesMasters/notesMaster1.xml" Id="R76695e332f9a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98f564b4dd4462" /><Relationship Type="http://schemas.openxmlformats.org/officeDocument/2006/relationships/notesMaster" Target="/ppt/notesMasters/notesMaster1.xml" Id="Rff648471d4034d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63df46beb1439e" /><Relationship Type="http://schemas.openxmlformats.org/officeDocument/2006/relationships/notesMaster" Target="/ppt/notesMasters/notesMaster1.xml" Id="R9eb42fd54b8948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f972c43474170" /><Relationship Type="http://schemas.openxmlformats.org/officeDocument/2006/relationships/notesMaster" Target="/ppt/notesMasters/notesMaster1.xml" Id="Rcec81169245846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d67bdc7db743fc" /><Relationship Type="http://schemas.openxmlformats.org/officeDocument/2006/relationships/notesMaster" Target="/ppt/notesMasters/notesMaster1.xml" Id="R55775d5063614c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7b618e71fb4b03" /><Relationship Type="http://schemas.openxmlformats.org/officeDocument/2006/relationships/notesMaster" Target="/ppt/notesMasters/notesMaster1.xml" Id="R1aa4015c27ec4f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50d88ad1384e7d" /><Relationship Type="http://schemas.openxmlformats.org/officeDocument/2006/relationships/notesMaster" Target="/ppt/notesMasters/notesMaster1.xml" Id="R6be43216884645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958494ad044ac3" /><Relationship Type="http://schemas.openxmlformats.org/officeDocument/2006/relationships/notesMaster" Target="/ppt/notesMasters/notesMaster1.xml" Id="R9d6ce3a2dfbf42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71e4d8b7c64275" /><Relationship Type="http://schemas.openxmlformats.org/officeDocument/2006/relationships/notesMaster" Target="/ppt/notesMasters/notesMaster1.xml" Id="R648a0ed717404f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2c293d2fe6417d" /><Relationship Type="http://schemas.openxmlformats.org/officeDocument/2006/relationships/notesMaster" Target="/ppt/notesMasters/notesMaster1.xml" Id="R792d816128f644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8a1b675eb940f6" /><Relationship Type="http://schemas.openxmlformats.org/officeDocument/2006/relationships/notesMaster" Target="/ppt/notesMasters/notesMaster1.xml" Id="Rc2cddd5248194a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0aeffd827c4852" /><Relationship Type="http://schemas.openxmlformats.org/officeDocument/2006/relationships/notesMaster" Target="/ppt/notesMasters/notesMaster1.xml" Id="R2d0c5825e27b4c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0f7ef0359c4ad6" /><Relationship Type="http://schemas.openxmlformats.org/officeDocument/2006/relationships/notesMaster" Target="/ppt/notesMasters/notesMaster1.xml" Id="R07f43793c0fb40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59c2fce7df4074" /><Relationship Type="http://schemas.openxmlformats.org/officeDocument/2006/relationships/notesMaster" Target="/ppt/notesMasters/notesMaster1.xml" Id="R498bddc8497d4d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652cc2cd0045e2" /><Relationship Type="http://schemas.openxmlformats.org/officeDocument/2006/relationships/notesMaster" Target="/ppt/notesMasters/notesMaster1.xml" Id="Rf7e2266d3e4b40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f10bd263854166" /><Relationship Type="http://schemas.openxmlformats.org/officeDocument/2006/relationships/notesMaster" Target="/ppt/notesMasters/notesMaster1.xml" Id="R36d9a923d4f94c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38eec672844546" /><Relationship Type="http://schemas.openxmlformats.org/officeDocument/2006/relationships/notesMaster" Target="/ppt/notesMasters/notesMaster1.xml" Id="R6c119cb855e940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4569612df1430d" /><Relationship Type="http://schemas.openxmlformats.org/officeDocument/2006/relationships/notesMaster" Target="/ppt/notesMasters/notesMaster1.xml" Id="Rc8dd76d3859748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719bc300bc4290" /><Relationship Type="http://schemas.openxmlformats.org/officeDocument/2006/relationships/notesMaster" Target="/ppt/notesMasters/notesMaster1.xml" Id="Rb2d7f6bf984248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c401cbe0c04f0c" /><Relationship Type="http://schemas.openxmlformats.org/officeDocument/2006/relationships/notesMaster" Target="/ppt/notesMasters/notesMaster1.xml" Id="R28bcfe10a4bd41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161655fb14e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a84e84918d45d8" /><Relationship Type="http://schemas.openxmlformats.org/officeDocument/2006/relationships/slideLayout" Target="/ppt/slideLayouts/slideLayout1.xml" Id="R4bb07d512fee4d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b07d512fee4d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197cc13284752" /><Relationship Type="http://schemas.openxmlformats.org/officeDocument/2006/relationships/image" Target="/ppt/media/image.png" Id="Rf99c74cb72ee4a59" /><Relationship Type="http://schemas.openxmlformats.org/officeDocument/2006/relationships/notesSlide" Target="/ppt/notesSlides/notesSlide1.xml" Id="R3a549b0d0c5f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cd79e640745a0" /><Relationship Type="http://schemas.openxmlformats.org/officeDocument/2006/relationships/notesSlide" Target="/ppt/notesSlides/notesSlide2.xml" Id="Rff4a53efad284c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7b1979d704081" /><Relationship Type="http://schemas.openxmlformats.org/officeDocument/2006/relationships/notesSlide" Target="/ppt/notesSlides/notesSlide3.xml" Id="R5418ff240b0b43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5b21bfc1a43a9" /><Relationship Type="http://schemas.openxmlformats.org/officeDocument/2006/relationships/notesSlide" Target="/ppt/notesSlides/notesSlide4.xml" Id="R2f8ab0979da54e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76b31a7104d96" /><Relationship Type="http://schemas.openxmlformats.org/officeDocument/2006/relationships/notesSlide" Target="/ppt/notesSlides/notesSlide5.xml" Id="Re95451dfb6f540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837865aa14777" /><Relationship Type="http://schemas.openxmlformats.org/officeDocument/2006/relationships/notesSlide" Target="/ppt/notesSlides/notesSlide6.xml" Id="R15f964a3f2384b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8485f5a44db9" /><Relationship Type="http://schemas.openxmlformats.org/officeDocument/2006/relationships/notesSlide" Target="/ppt/notesSlides/notesSlide7.xml" Id="R116f0a65d6f64d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6dc7a9e64066" /><Relationship Type="http://schemas.openxmlformats.org/officeDocument/2006/relationships/notesSlide" Target="/ppt/notesSlides/notesSlide8.xml" Id="R0c1dcb21957943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7eb14e91b461e" /><Relationship Type="http://schemas.openxmlformats.org/officeDocument/2006/relationships/notesSlide" Target="/ppt/notesSlides/notesSlide9.xml" Id="Re75cf2b46abd4a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d112a65e46d6" /><Relationship Type="http://schemas.openxmlformats.org/officeDocument/2006/relationships/notesSlide" Target="/ppt/notesSlides/notesSlide10.xml" Id="Rae9a2a2ecc1f46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61c2f0aff4f23" /><Relationship Type="http://schemas.openxmlformats.org/officeDocument/2006/relationships/notesSlide" Target="/ppt/notesSlides/notesSlide11.xml" Id="R7749a8ecb4f447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02a9ca0fd4be2" /><Relationship Type="http://schemas.openxmlformats.org/officeDocument/2006/relationships/notesSlide" Target="/ppt/notesSlides/notesSlide12.xml" Id="Rd5b1cdb0716344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bc76da727451f" /><Relationship Type="http://schemas.openxmlformats.org/officeDocument/2006/relationships/notesSlide" Target="/ppt/notesSlides/notesSlide13.xml" Id="Rdff5b0575ef043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ceb61477b4a41" /><Relationship Type="http://schemas.openxmlformats.org/officeDocument/2006/relationships/notesSlide" Target="/ppt/notesSlides/notesSlide14.xml" Id="R111ffd0462bb40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a811c22184e69" /><Relationship Type="http://schemas.openxmlformats.org/officeDocument/2006/relationships/notesSlide" Target="/ppt/notesSlides/notesSlide15.xml" Id="R8572449e28564b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1cccc29104dde" /><Relationship Type="http://schemas.openxmlformats.org/officeDocument/2006/relationships/notesSlide" Target="/ppt/notesSlides/notesSlide16.xml" Id="R8010c4012ce84a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f168b093a4fcd" /><Relationship Type="http://schemas.openxmlformats.org/officeDocument/2006/relationships/notesSlide" Target="/ppt/notesSlides/notesSlide17.xml" Id="R68203546b23d4a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c11f94d3149d2" /><Relationship Type="http://schemas.openxmlformats.org/officeDocument/2006/relationships/notesSlide" Target="/ppt/notesSlides/notesSlide18.xml" Id="R4569c23f5b9e47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400a4ebb54698" /><Relationship Type="http://schemas.openxmlformats.org/officeDocument/2006/relationships/notesSlide" Target="/ppt/notesSlides/notesSlide19.xml" Id="R3c6bd2f1adba41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d63607e7b46ed" /><Relationship Type="http://schemas.openxmlformats.org/officeDocument/2006/relationships/notesSlide" Target="/ppt/notesSlides/notesSlide20.xml" Id="Ra7d0a1cc728b459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2f50ea8645b8" /><Relationship Type="http://schemas.openxmlformats.org/officeDocument/2006/relationships/notesSlide" Target="/ppt/notesSlides/notesSlide21.xml" Id="R39cea142960f47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2a7ae8aad4425" /><Relationship Type="http://schemas.openxmlformats.org/officeDocument/2006/relationships/notesSlide" Target="/ppt/notesSlides/notesSlide22.xml" Id="R2b4a7c7ff0e74e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a60cf0dc4b14" /><Relationship Type="http://schemas.openxmlformats.org/officeDocument/2006/relationships/notesSlide" Target="/ppt/notesSlides/notesSlide23.xml" Id="R5f3e02d50a6c4f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f90371d7449d1" /><Relationship Type="http://schemas.openxmlformats.org/officeDocument/2006/relationships/notesSlide" Target="/ppt/notesSlides/notesSlide24.xml" Id="R644640870df842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cf4bf094447ae" /><Relationship Type="http://schemas.openxmlformats.org/officeDocument/2006/relationships/notesSlide" Target="/ppt/notesSlides/notesSlide25.xml" Id="R36dbbd397a4e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c74cb72ee4a59"/>
          <a:srcRect xmlns:a="http://schemas.openxmlformats.org/drawingml/2006/main" l="18264" t="0" r="18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0"/>
            <a:ext cx="7734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BA224-187E-4225-ABDE-76C9C719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9F738-2893-4D42-9D2A-E87BC900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FOR LAW FIRMS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CE9E5-F0C4-4191-B6D6-AAF03D42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operating system for litigation-heavy law firms.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D2E3-31D8-4B34-AD3F-B64D4234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Run matters, research, drafting, hearings, court-order compliance, contracts, outside counsel, billing, and review queues from one matter-native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689F5-72D6-4E61-B136-738AE69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695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4B8B2-4DF4-429D-8B83-E3042114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5302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Citation-grounded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6872C-3FBD-4FC5-9CE5-3F180AA2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95875"/>
            <a:ext cx="1905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4BD23-6DDB-40D6-AEA3-60E4BC0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530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Review-first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84724-E6B8-4ADE-B3CF-867B383D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F7CFF-51E7-49F3-8A77-BEC43A7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India-ready billing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56639-7F44-4999-A12E-306AF60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1116-EBE9-4CEF-B3E6-8C05250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4082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948F0-0ECA-4DEE-B3B4-D0A3960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MARKET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09C08-8953-49F9-AACB-36A2D828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76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data says litigation work is already at system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D1C8A-5EB4-426B-9353-E732776E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Indian court data shows the operational load. AI economics shows the capacity upside. The law-firm buyer needs both in one controlled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7308D-4AC9-4591-84AE-289158E2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CF546-0276-4D4B-8818-DE517228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4F8B3-0773-43F7-B256-2C2F92A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6CBAF-D202-4EF0-988D-6B4B0725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5.00Cr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4E711-92E6-4DA8-A1E8-6B81C884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district pending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88E3D-2A77-4DF5-BD14-C3F87DEA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NJDG shows 5,00,47,690 pending District Court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B615C-7C4A-4D33-A5C0-59A63CA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C81C7-5AC8-4766-89CC-62ED0E6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12.69L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6311-0F24-4EE3-9773-7C3BCC68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listed 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D0632-42AE-4754-A933-867DB865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NJDG shows 12,68,577 District Court cases listed today.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A6A10-C188-4CB8-A6F2-38C7E874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6EE34-75BF-4E06-A6DA-F6B5821D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64.56L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FF824-D19F-467A-8F30-5730F2A9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High Court pending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32FBA-7413-4BE9-8110-CD348586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HC NJDG shows 64,55,550 pending High Court cases.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7F769-C32E-4976-BE11-604B038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533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C7D54-F40C-4D53-A40B-18D57239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240h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54AF5-61D7-4452-BCB4-17EF007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AI time upside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D00DD-B64A-4124-A9D8-93B7E5C2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148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 benchmark: nearly 240 hours per professional/year.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61D68-E88A-4226-BC51-7A9F7F8E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D6BB7-DAC4-4550-A6FC-4C799A8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sales question: can the firm turn live court pressure, matter work, review, and billing into one controlled system?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8130E-1126-4427-9A93-2DA1CB97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Sources: NJDG District Court and HC dashboards accessed 2026-07-10; Thomson Reuters Future of Professionals Report 2025.</a:t>
            </a:r>
          </a:p>
        </p:txBody>
      </p:sp>
    </p:spTree>
    <p:extLst>
      <p:ext uri="{BB962C8B-B14F-4D97-AF65-F5344CB8AC3E}">
        <p14:creationId xmlns:p14="http://schemas.microsoft.com/office/powerpoint/2010/main" val="810528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63942-5BBD-4470-ACF0-2BB5F64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OPERATING PAIN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3C515-6FBF-4C7B-8D19-770AD510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Firms lose margin when matter truth is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63A18-799D-4216-8AF2-9F6065C8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problem is not lack of tools. It is that the tools do not share the same legal and operational truth.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B2139-EA60-4157-9FCD-20F6D32D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B47D1-B723-419B-863B-EB5B3816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83D7D-40EB-48C7-A0A4-DC429B74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5340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871CE-6355-43FF-AE31-9DBEB442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54048-E6FF-4501-830D-89E80EC3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State gets rebuilt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E2162-F0D8-4D5E-899C-D79E1D88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867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Associates reconstruct the matter every time they move between email, folders, research, drafting, and billing.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A8FCE-2FCE-493F-AA33-2A35A9B4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55340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F65D5-6E51-45D4-85CC-5D7EE9CA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41765-3252-4565-B64C-1E27631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527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Partner review slows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CFC7A-F9D1-448A-B7AC-C1011460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4867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draft, authorities, last order, facts, and missing evidence rarely sit together when the reviewer opens the 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C65D0-08D7-4BC3-A7CC-BB0D00D2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55340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1BE4F-F88C-4072-92BB-7CCEAA6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42BD0-3A0A-45EA-9BCD-6E50ADC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Deadlines become brittle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7D764-ED19-414D-8DB8-F022E91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867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Court orders, listings, compliance directions, and ownership get lost between diaries, chats, and spreadsheets.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2A340-67E6-4A29-838D-72E44AAA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9600"/>
            <a:ext cx="55340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73CD8-D3D0-41AC-8E76-AFA57DE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648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E2B97-4711-42F8-BBF8-D310A01C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9105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Revenue arrives 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0C029-60F4-4458-AB54-4B871581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86350"/>
            <a:ext cx="4867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Time, invoice, recovery, write-off, and spend data sit outside the matter, so profitability is discovered after the 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A3BC3-D7FB-459F-B582-AF0CA85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Operational load signal: NJDG District Court dashboard shows 48,52,203 cases above 10 years, 15,27,325 undated cases, and 44,14,807 excessive dated cases.</a:t>
            </a:r>
          </a:p>
        </p:txBody>
      </p:sp>
    </p:spTree>
    <p:extLst>
      <p:ext uri="{BB962C8B-B14F-4D97-AF65-F5344CB8AC3E}">
        <p14:creationId xmlns:p14="http://schemas.microsoft.com/office/powerpoint/2010/main" val="105285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C07B4-C9D7-491A-B132-8404084F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6851B-6F64-410E-8C69-F237D4C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CaseOps makes the matter the operating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F52D1-D3B5-432B-818A-BC6DA4C4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Every workflow attaches back to one matter graph, so legal context, review state, team boundaries, and commercial state move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BBF3D-4103-429E-BA2B-E0E107CE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81588-C64E-49AD-918C-AC6803C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4E432-E2C2-4CC4-B79C-B474AE34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32E42-FBAA-498B-8AC8-CDB41942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43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Matter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286C0-7C6A-4567-B049-5B246B8E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147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D7DA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7DADF"/>
                </a:solidFill>
                <a:latin typeface="Helvetica Neue"/>
                <a:ea typeface="Helvetica Neue"/>
                <a:cs typeface="Helvetica Neue"/>
              </a:rPr>
              <a:t>the live record of legal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1B006-FA8F-45F0-B84B-8A9056B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2B8BA-27FE-4A3D-9026-1553C61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99FEC-7015-4292-955A-D3F676A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11E19-DDAE-45D2-8346-C32DAF9E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56CEA-DE2E-431E-B66B-84D4344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672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947DC-ACA6-47E0-82DB-21B20146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EF388-1750-4283-BF8B-2B7EA78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694B5-A14A-42CB-BA81-0B0D7B5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Drafts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30E25-74EF-4649-B52F-CEE86CE8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26F8B-0830-485F-AF53-E9E95574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Hearings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E1388-62F7-42B0-8C97-1DDE564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384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47C7F-0B7F-45DA-AEE9-6AE4D370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6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Billing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441AC-AF72-47CB-83CA-EAE0C3D9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CFD04-EE59-4B91-A36F-FC60E22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11252-18D9-4FC4-BA27-1E3D469F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One record. Many workflows. Shared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02733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9CCB1-0129-4823-BCF6-75C4857B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WHY CASEOPS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B9D72-C020-4073-9EA1-9F130903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It combines practice management, legal intelligence, and trust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8E5BC-8EA6-44D9-B453-C561EA2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Most tools solve one part of the law firm stack. CaseOps is designed to run the work end to 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4F2FC-3CC1-4A76-909B-5D27E16F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E70E6-4A41-425B-B37E-16321F2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716AD-7AC6-4FD3-8471-0D12375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66BD3-365A-4880-AA78-E31C7C86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822AE-93D8-4131-B733-02000CB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Matter 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360A4-E130-408F-A574-162577F3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Matters, parties, documents, hearings, drafts, tasks, billing, audit, and status live in one operating cockpit.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163B-088F-4776-9EEA-DC9C970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04A88-2BEC-4664-88DE-C9A0DDF6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67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7BBE3-5479-4F7C-AD5A-98FD479D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95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Legal AI inside the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184B2-5C99-40E0-86EE-15FC532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76650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Research, drafting, hearing prep, recommendations, and contract extraction are grounded in sources and matter facts.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7761-4AB1-441A-BABF-65D0CEB3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A9D3A-95AC-4189-B538-CBD82ECA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AC794-6E17-425A-BEC8-7678BCE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95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Trust plane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5D1C2-5331-4ADF-AF25-EAA0DE0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Tenant isolation, ethical walls, model policy, review gates, audit exports, and provider readiness labels are designed in from day 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616AF-9838-401E-BFB9-F6F646D7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83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3A4DD-64EF-4932-9B79-1EA4168B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Sales translation: fewer fragmented subscriptions, less partner review friction, cleaner proof for clients and IT.</a:t>
            </a:r>
          </a:p>
        </p:txBody>
      </p:sp>
    </p:spTree>
    <p:extLst>
      <p:ext uri="{BB962C8B-B14F-4D97-AF65-F5344CB8AC3E}">
        <p14:creationId xmlns:p14="http://schemas.microsoft.com/office/powerpoint/2010/main" val="2135512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CEDB54-F156-4364-8241-6AE892C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 COCKPIT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0B305-AEC4-4432-BBD2-85CE2309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Every workflow starts from the live matter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F20A1-2137-47C2-B169-9C8AC767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matter is not just metadata. It is the operating surface where lawyers see what is true, what is pending, and what needs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2F58A-5A22-4897-8761-444F5918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F4C59-EB89-462F-B40A-B50EFC9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76CF1-1BDA-49DD-885A-52386FE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524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0E02B-2F78-429A-B522-76B3FC09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Matter cockpit contains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0B7C3-9637-4FCB-972F-315DE6B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B8F10-C261-435A-8E07-06F9CDFE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Parties, forum, stage, owner, team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03BEE-A957-4977-9512-2AC1A8F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D597A-EDC0-43CA-A5CD-43CDA07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Documents, orders, pleadings,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3A2FE-CEF6-48AB-83DA-C3670927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F6F39-91FB-49AF-8604-9F4D144A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Hearings, next date, provenance, manual 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8F349-4F0F-492C-9EEE-76F28392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5C86B-A9BC-4FD9-85F1-5960FC0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Drafts, review state, citations, versions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01869-281F-4483-8AD1-65711C5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02328-9846-4171-A4AB-F68EC14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Tasks, deadlines, compliance directions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2F53B-256C-4CCC-A211-F15115A6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8239A-FA10-4EE9-A25D-04E2C45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Time, invoices, payments, write-offs,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03197-2B4C-40ED-9917-6202C344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53625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5D12C-6472-46F3-8EBB-FB794BC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Partner payoff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4B3FD-8748-4467-8EE9-62949EDC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The reviewer opens one matter and sees the draft, citations, last order, missing facts, authority context, billing state, and audit trail without asking three people for status.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8D4CF-7BE7-4ACC-853A-040B126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29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Less status chasing. Better legal review.</a:t>
            </a:r>
          </a:p>
        </p:txBody>
      </p:sp>
    </p:spTree>
    <p:extLst>
      <p:ext uri="{BB962C8B-B14F-4D97-AF65-F5344CB8AC3E}">
        <p14:creationId xmlns:p14="http://schemas.microsoft.com/office/powerpoint/2010/main" val="143409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59F01-5723-4113-A94F-33985AD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AND CITATIONS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F1FE3-0F26-40B5-8CBE-4476F566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Research is grounded before it is generative.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E9C5-13E6-4F1A-B317-8F9626C2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does not treat legal research as a chatbot prompt. It retrieves, filters, cites, and keeps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05D0C-A3C3-4D4E-B0FB-57ED3F90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83407-5307-4049-8464-0F50420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E2E1B-E8E8-4CA0-B735-F9624E33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571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62D9A-8D0E-4C52-9A58-29F855E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5793F-DA7D-451D-A1AB-7F1638AE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Ask the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CBE6C-DBF9-4DB4-8F13-C293DE2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Phrase the fact pattern or legal question in natural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8239A-BF16-409B-BCBC-0085907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2571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93414-B1DD-4B3C-87D3-C81EFD83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D2051-DF84-4558-AA51-1653BC88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Retrieve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EEC4D-9EF5-465A-B950-013A4CE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Search statutes, judgments, matter documents, and internal precedents.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0E360-26AB-48C4-A72A-4FFB4C9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571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3B45B-F32E-4045-AA3A-17BCD82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EA486-66AE-4BED-BF36-F4C95E9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Cite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FEAD5-EB2E-4B82-908C-9F1E684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Return authorities, snippets, assumptions, contrary signals, and gaps.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9A094-D565-4682-80D8-5BB77A4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571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156B5-D9EB-438D-9162-5B7F303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85BB2-67A1-4CBE-888A-98395DD8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Save to matter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409DC-9F6D-485D-8273-BD39CE0D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Attach the note, shortlist, or authority card to the matter for reuse.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C5A9A-6907-40BF-80A5-EBC2FC5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D1208-C409-407E-B8D5-8F3F9576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Rule: weak evidence returns uncertainty or refusal. The system should never invent a case, statute, fact, or quote.</a:t>
            </a:r>
          </a:p>
        </p:txBody>
      </p:sp>
    </p:spTree>
    <p:extLst>
      <p:ext uri="{BB962C8B-B14F-4D97-AF65-F5344CB8AC3E}">
        <p14:creationId xmlns:p14="http://schemas.microsoft.com/office/powerpoint/2010/main" val="648443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BCE6EE-F99F-41E9-9638-14EB07AD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DRAFTING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B797-6B6F-4599-B811-DC57930A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First drafts get faster, review gets stricter.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B233A-D196-4188-A4D4-5CD0AD9C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product promise is not unverifiable speed. It is reviewable legal work grounded in matter facts, authorities, and court-specific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287CB-841B-43AE-81F8-F9EEC6F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1B071-BA91-4927-B750-83A24AD2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CB30D-DE07-4C0A-A045-3C775122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D6F5E-D230-4A8E-9FFB-F6315BAA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13AAD-52D1-49B0-8694-8C46B937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EA4DF-91BD-4373-813C-EDA028E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 facts, confirmed extraction fields, statute sections, orders, documents, and internal templates.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4B380-19B7-40DD-8396-DB40532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DC30E-9366-4D7F-8B36-DDEF00E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D1D54-14F3-47C2-AECE-67F00671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9D4F2-EF09-4F34-BCB5-706ACFB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6230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Draft types include litigation templates, Supreme Court escalation pack, court-format profiles, and filing bundles.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804B2-ACF3-4001-83BA-FE8AADA0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1D967-82D9-4F27-A087-24571FE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B9073-9FEA-4C8E-BAAD-5CBED3E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0A486-3E0F-4FC3-821E-DDAF1A2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Inline citations, placeholders for unknown facts, statute checks, citation coverage, and version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459C9-850E-41D0-9C6C-B0716D31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259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82505-8C6C-444A-A55E-B23A3F7E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7068E-63D5-4DA8-AB3F-1DE187C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1C2FF-6D56-4E1C-AAE7-CD65AB0A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1924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Submit, request changes, approve, finalize, export DOCX/PDF, and preserve audit on every state transition.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07846-2482-4BA7-B62A-CEBFB800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D6509-D78D-44B1-90BE-2C8DA1C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changes in the 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88A53-1C5D-48D2-BB59-B3B8306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48250"/>
            <a:ext cx="671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Associates spend less time assembling first drafts and more time improving arguments. Partners review the chain of facts and sources directly in the matter.</a:t>
            </a:r>
          </a:p>
        </p:txBody>
      </p:sp>
    </p:spTree>
    <p:extLst>
      <p:ext uri="{BB962C8B-B14F-4D97-AF65-F5344CB8AC3E}">
        <p14:creationId xmlns:p14="http://schemas.microsoft.com/office/powerpoint/2010/main" val="394412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CD246-9D43-448C-BE87-79BEC07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HEARING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81FE7-3021-4F4F-9E54-0973CAF6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Tomorrow's hearing pack should assemble itself, then wait for lawyer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23301-5EAE-4F76-A3ED-693908AD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morning of a listing should not be spent reconstructing chronology, directions, last order context, or oral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2B8E0-AD94-492C-B603-918885A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AE639-1E29-44EF-B5E2-5EEE9EBC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AA83D-D7E3-4C75-9C4A-D266372D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29456-E0F7-476D-BA53-38298E2C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9CB9A-EC86-4626-A7F3-64593CF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Chronology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9AF2E-6AB3-4BD6-B18A-A28C62D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Events assembled from filings, orders, communications, and matter activity.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7C089-7107-47B4-A9A7-6ABBC127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1C771-38FB-4F1F-B339-EE639A05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56B3F-9D27-40AB-BE59-04CEC9C8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Last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F1A4E-AF19-4287-9CB5-BC9E791C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Source-backed directions and pending compliance items surfaced for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FF1E4-D064-4EC8-9D7F-944609F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5C26D-8CEE-45B0-AD9C-55510F37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5FE1D-C2C7-43CC-935C-EAAA3686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Bench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8F19A-4EB4-42AA-B9B8-F46E9F6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Court and judge context shown with limitations, not outcome forecasting.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71377-CC9C-46CA-B9DE-506BD471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4102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D03C7-AB13-4B2E-A50F-537E6E96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Hearing pack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5664F-B9A5-4B6B-9686-EDA346A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78123-6F3E-4E91-9749-77D6995D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issues and questions for oral hearing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8D284-AC85-42FC-8A29-FE33670F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4F2E4-4477-4B5F-9C3D-94C51D0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authority cards and contrary signals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9B160-2369-4F21-85A9-5A861F4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86A30-2637-4DEB-812D-E347EF50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affidavit gaps and missing documents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F64FA-B506-4DE4-BD00-CBFEB39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A1709-040A-4276-958A-7B55F566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review-required directions before activation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14880-4B2F-4078-B8A2-1AFA7F7C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14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DAC36-0F77-42A1-A7E5-6EECA59F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post-hearing follow-up tasks</a:t>
            </a:r>
          </a:p>
        </p:txBody>
      </p:sp>
    </p:spTree>
    <p:extLst>
      <p:ext uri="{BB962C8B-B14F-4D97-AF65-F5344CB8AC3E}">
        <p14:creationId xmlns:p14="http://schemas.microsoft.com/office/powerpoint/2010/main" val="1763757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5AA9F-3F88-45D5-B6DA-3B16765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COURT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914B2-CDEB-421C-8263-401F145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Court updates become controlled work, not inbox noise.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5B579-2310-41F7-8F74-CCC2B11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India-specific court operations are where CaseOps feels less like generic practice software and more like a legal operating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626DD-5CD2-4287-B5BC-219A3585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43B80-E8BD-4B77-8F77-3A3452E2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3FBFA-B1E7-4F35-A5C8-BB71635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AECC0-25CA-400C-9EE6-4941DE04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E4129-6A5A-4095-A6BA-E351D34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Tracked case 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B63E2-683F-4512-A779-FE487A04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Opt-in CNR/case-number tracking with provider-gated refresh, safe skipped states, and admin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547E-538C-48DC-ACA3-946C76E9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5059B-A3D6-485E-B9CB-32FA3903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04CF0-7A6C-4AC5-A1BC-9C6705C2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527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Court-order compliance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80FFC-9E5B-416E-BA6D-7776FC9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Orders generate source-backed, review-required compliance items before tasks or deadlines activate.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1BD70-2D29-4068-9D39-46BE6C2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E235F-DB7B-461B-9291-05942C8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CD49C-836B-48C1-8CD7-22E1AEB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Next-hearing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35151-43B4-486D-A153-0D404DF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Manual locks, accepted suggestions, source labels, and history prevent silent overwrites.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41815-0F16-4A9B-9AA5-18015416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2910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EFC0F-D7C4-4317-9B8E-D8964BFC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457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596F5-315B-4540-BB27-4EA4402A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0055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Cause-list PDFs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2AF10-67EA-4CDE-BE24-42D41F6C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Date-wise court-style PDFs with filters, missing-field warnings, row count, checksum, and download audit.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5A06B-66BF-4AEA-9A48-D7D2153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Internal product boundary: no captcha bypass, no unapproved live provider calls, external notifications remain provider-gated.</a:t>
            </a:r>
          </a:p>
        </p:txBody>
      </p:sp>
    </p:spTree>
    <p:extLst>
      <p:ext uri="{BB962C8B-B14F-4D97-AF65-F5344CB8AC3E}">
        <p14:creationId xmlns:p14="http://schemas.microsoft.com/office/powerpoint/2010/main" val="888231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4DCA00-CF03-4F43-9B42-73A4A108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CONTRACTS AND PLAYBOOKS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5F26F-36EB-4DA6-B6A1-0F33FA6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Transactional work stays connected to the litigation and client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DD11-4FD5-4F7E-ABA3-5AC6C67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Contract review is not a separate island: obligations, deviations, and risk signals should feed the same matter 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B6BC9-E7AB-45F1-B53A-291B0B7D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78D1-2EB7-4D1F-92D2-780D2B88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56B97-99C4-415D-ABF5-4F040FE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11645-28F5-4563-8A5B-90D726B6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Clause 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D2B9D-BBA0-4FED-A2C3-179A4C14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Parties, obligations, dates, notices, indemnities, payment terms, dispute resolution, and source snippets for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3C86B-B0BF-40E5-A2ED-DD96770B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FE3D6-66F9-4E34-8C3B-D013DF7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Playbook 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5701A-0924-4FF0-BDF5-AE9E81D5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52800"/>
            <a:ext cx="2819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Tenant playbooks flag matched, missing, deviation, and needs-review positions without exposing raw contract payloads in audit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D768D-04D2-466D-8F02-0C336CA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387DA-CCB3-4A01-A1F6-CFDD2BF6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Obligations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090C8-D126-4C85-B4D7-279DDDD5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819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Contract duties become matter-linked tasks and reporting items, so legal ops and litigation context stay synchronized.</a:t>
            </a:r>
          </a:p>
        </p:txBody>
      </p:sp>
    </p:spTree>
    <p:extLst>
      <p:ext uri="{BB962C8B-B14F-4D97-AF65-F5344CB8AC3E}">
        <p14:creationId xmlns:p14="http://schemas.microsoft.com/office/powerpoint/2010/main" val="407595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1EF9D-0202-4306-AC86-C82E76EA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PORTALS AND COMMUNICATION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82145-7C8B-41CD-8E60-3983C06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Clients and outside counsel get scoped windows, not messy forwards.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F8F35-2AA4-4567-919C-EF973539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Law firms can collaborate without giving everyone the same system-level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4E765-5D21-4D39-9A62-14112A96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49321-F4E0-4E19-877D-6E4BB8D9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C567D-1295-4015-B9D4-08D929D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52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A708E-D010-4BB1-83FB-A134FC8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2062F-194C-4B65-B927-5C8AF3CF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Outside counsel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25CAD-5E16-49E3-9AEA-CFF6AE1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Magic-link access to assigned matters, work-product upload, invoice submission, and time entries.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AD8E1-BFCE-4B8C-8616-BEDB2CD2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62200"/>
            <a:ext cx="552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039B1-DD8D-4357-AFD1-42A0C838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9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FE05B-78EE-486E-8705-289D0358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336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Client portal and KYC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E8877-2737-4B88-9DA1-7644A20E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Matter-scoped client view with communications, hearings, KYC states, and audit on every transition.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B3771-8016-4591-84F9-F1D5D86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52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AB163-4897-46CF-BCBD-7F33FC6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93B14-4086-4845-8E01-FEAB4F3E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Unified timeline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04D3A-1203-486E-BC93-F4A3F3AE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Emails, notes, platform messages, and review events attach to the matter rather than disappearing into inboxes.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0F10D-4843-49DD-8326-6A745DE0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14800"/>
            <a:ext cx="552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0EC5E-7A6C-47C0-B9D0-0DC18BE0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4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1B560-0C11-4B85-BB66-09647928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Calendar candidates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97210-CCBE-4AD4-B2E8-742D39A4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Imported invite metadata can become internal calendar items after explicit review, not silent automation.</a:t>
            </a:r>
          </a:p>
        </p:txBody>
      </p:sp>
    </p:spTree>
    <p:extLst>
      <p:ext uri="{BB962C8B-B14F-4D97-AF65-F5344CB8AC3E}">
        <p14:creationId xmlns:p14="http://schemas.microsoft.com/office/powerpoint/2010/main" val="10660943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A3224-AAD9-4ADA-A7FB-7B65B52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BILLING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D825-81C6-4D8A-A93E-EEC0FE22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Revenue discipline belongs inside the matter.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4F52B-C5F8-4F43-8E16-5D0295BF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 billing is separate from CaseOps SaaS billing. The firm should see legal work and commercial state in one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5BAF4-DC34-43B2-AE09-2ADE67E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06EF3-0674-42D3-84C5-C448C109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91D61-0C15-4C36-B67C-4E6231CD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2BF3D-54CC-49CA-8B96-4138108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E2ABF-2E9B-43D3-B09F-F7546C3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7F8C4-EA3C-4DA0-B38B-E2B26FD8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81DC7-9453-4BD4-8A94-780BB1A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AE7B-1A33-40C0-807D-F67B54CF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3DE62-1821-4758-A1CF-2DB03F7A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08666-EFF9-4E17-B2AD-69DCAC8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F47C8-BC53-4723-B532-8365016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94C34-8629-49AA-BB20-C2333F92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718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7805A-5635-445A-B899-0188265A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2FE05-93CC-4FC6-841D-D0F342B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7148D-3C4E-47B7-A6C2-B228517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E889E-2743-41F1-9605-51B4B0C9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3B4CD-980F-4680-B459-17F23AC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0D44E-C661-44DE-A5D5-50E0E87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7E39F-D70A-4A53-8C5A-6BCF0F0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GST/TDS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BE790-8816-418D-89C4-7BFA1E15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India-ready invoice fields and tax splits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0FC87-93DD-4443-827D-FAEA18B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9934D-447A-48CC-8731-25C7CBBD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PDFs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C1C0E-0F16-411C-B19A-35C801ED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Server-rendered invoices and statements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99FB4-FE4B-4DFE-A514-8571876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03FAE-AF64-4ED2-8414-0C849E6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Double billing 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5553F-F4B6-4FB8-B886-61EE16E6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Time entries already invoiced cannot be billed again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58430-6219-420E-8C76-D6CFA81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33A91C-80FE-4337-901C-BBBCEFF2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00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UAT gated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06CC-EA95-43ED-84FC-4E37F2E3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9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Pine Labs live payments remain disabled until signoff</a:t>
            </a:r>
          </a:p>
        </p:txBody>
      </p:sp>
    </p:spTree>
    <p:extLst>
      <p:ext uri="{BB962C8B-B14F-4D97-AF65-F5344CB8AC3E}">
        <p14:creationId xmlns:p14="http://schemas.microsoft.com/office/powerpoint/2010/main" val="893695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200BC-CF74-4F2E-A946-411786A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AI TRUST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11D2E-C7AD-416C-8D9F-016BCB5B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AI posture is review-first by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64680-A850-4620-9857-7FFC6437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sells speed through control, not speed instead of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061E8-F529-41A2-96E3-704D3BA4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6D4BE-1021-4208-8233-5F315A1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07A65-0B45-47D4-B8B1-DC3DCD0C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8486F-7CC9-48CA-A0E9-24DF60B0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ECA01-F44E-447A-A3A4-0A0D962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Citation grounding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B1900-72B1-4CAE-878D-77AF8125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Substantive answers and drafts are tied to named sources where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BD05C-C142-4D67-A944-9ED3DF20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C6E7B-4982-45E7-8489-416638E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08823-599F-4EA6-8F09-EB479A8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527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Refusal over fabrication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C0C15-2D74-49B4-BD66-2C7D9F7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Missing facts become placeholders. Weak evidence becomes uncertainty, not false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F4EA3-0248-4F18-AFFD-3E22E4CF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CF615-4A1F-4537-B0AF-B6EEBEA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17127-9180-4FA7-8C73-FAC4263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Tenant model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557F9-43A0-4626-A9E3-C9288985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Allowed providers, budgets, quotas, and usage lineage can be governed per tenant.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3F293-F0DF-4B5A-A97E-B9DF71E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29100"/>
            <a:ext cx="55340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4FE95-80B0-4C07-A12F-6B6B18C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457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B3B08-A48A-48F0-8047-CE8F6E75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0055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ModelRun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7619F-7FEB-46F3-B4C5-61992132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486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Provider, model, tokens, latency, status, refusal, and action metadata are recorded without raw payload leakage.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3CB9C-3CB0-49B1-8A12-D018D33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Sources: CaseOps README and public law-firms page; Thomson Reuters 2025 notes AI ROI depends on strategy, leadership, operations, and individual adoption.</a:t>
            </a:r>
          </a:p>
        </p:txBody>
      </p:sp>
    </p:spTree>
    <p:extLst>
      <p:ext uri="{BB962C8B-B14F-4D97-AF65-F5344CB8AC3E}">
        <p14:creationId xmlns:p14="http://schemas.microsoft.com/office/powerpoint/2010/main" val="11816848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A6314-10C1-4122-8619-52DA3456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SECURITY AND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DA380-A919-4663-B587-845C447E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Built for partner, IT, and client scrutiny.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90B1A-7BA0-459A-9BF6-772D4226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law-firm pilot must earn trust from the managing partner, IT admin, compliance lead, and client relationship owner.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8E0F9-8864-4E15-89B6-823020E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F550D-EE65-4493-8EFA-C296529F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C2ECB-A10F-472E-AF48-46EBDE7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52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04B96-EB4E-45A8-B779-AE045A1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A22C9-38DF-43C9-9DB3-9228E511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Tenant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06FF8-9DF2-4A35-A912-CB789D02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Every core record, storage object, retrieval path, and audit event is scoped by tenant.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FA533-BD0B-4EB7-879E-FD4D983C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28850"/>
            <a:ext cx="552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B97BB-410F-4CA2-8CF4-BBD8FADA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7A485-24FA-4A97-A3E0-FDC6646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Ethical walls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9C09E-BCD9-4ED1-BBD1-42C47CEB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860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Matter-level walls override broad role access and are audited when access is denied.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9A5F6-4559-4903-B4D5-7283F2B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552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B53D0-66DD-418F-B0CF-E1AAD19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3F2B2-E8CF-4A0C-8EC1-71570072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Audit by default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9B5E3-AC90-4044-A5A1-08881AD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Draft approvals, compliance review, exports, billing actions, and admin changes are recorded.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3B8EA-8451-4D80-A6EC-B49E02A3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09950"/>
            <a:ext cx="552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4D31F-55A0-427B-899A-452A257C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38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DA5F0-5429-49C9-B463-A2D79BC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814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Data 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9B16C-6267-45F5-8008-DCD43119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671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cross-tenant training by default; raw prompts, raw LLM responses, secrets, and provider payloads stay out of tenant views.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9F172-E9A6-4F2E-BC7C-AB9535FB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552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B8A60-06D3-4C22-90A8-26C2689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4F3C6-70D5-4937-AE5B-5671374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Upload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77F2D-0A0F-4EC9-B64E-2F7BE0B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File extension, content-type, magic-byte, and secure download protections are implemented foundations.</a:t>
            </a:r>
          </a:p>
        </p:txBody>
      </p:sp>
    </p:spTree>
    <p:extLst>
      <p:ext uri="{BB962C8B-B14F-4D97-AF65-F5344CB8AC3E}">
        <p14:creationId xmlns:p14="http://schemas.microsoft.com/office/powerpoint/2010/main" val="18591660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8DA7C-DBB3-4244-A473-FEFAE921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READINESS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03DA6-4B9E-4EA9-A56C-C36E899A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pitch is stronger because the boundaries are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EC6BB-46D9-4B54-BEBE-A071B631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Law firms do not need magical claims. They need to know what is live, what is review-first, and what remains gated.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C5C8C-1478-481E-B3C5-46820FBC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B7B3D-AEBA-4888-A123-253FEA0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5C16-B09C-478F-B91F-AD73131D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5CA14-9CD0-4A31-B2C2-8D48E954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D4053-5FE5-40AF-A60C-E13C9673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6220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A274C-3D9A-4EDF-B14B-2AB9115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to say in sales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0CC01-4EBC-4EE9-82CF-8CBA8EF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62200"/>
            <a:ext cx="6362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39814-9F3F-4872-9269-ACCA071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617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F8F1C-9053-4045-AB04-775E14A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C77AD-A4C0-4443-B2C1-83209CAD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EF817-87AF-4F98-A47C-00EFA68F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035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760A5-741B-443C-BAAE-FE351594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Safe to demo as product capability.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0BEB3-680A-4550-8A77-224E8378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636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F0D88-6095-4CCD-A972-D38F8214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617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Matter cockpit, drafting studio, invoice PDFs, audit export, cause-list preview/PDF, client/outside-counsel portal foundations.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A88A9-C15F-499F-BE22-F7618DE3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9E2A9-764A-44C2-A3B0-1E94A943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Review-first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61A58-0094-48B9-B7E9-8F7B1ABE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1ADFB-7605-4C35-923F-2BB04BC7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Automation proposes. Lawyers confirm.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5B4FA-CE26-487B-8491-88D35D1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05200"/>
            <a:ext cx="636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6DFCC-0405-4113-8B4C-7317DA8D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617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Court-order compliance, extracted drafting facts, legal updates, recommendations, hearing packs.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B8F79-ED63-4F6D-90B8-5443763F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470C7-A35C-44B2-BCB7-68298850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Provider-gated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2127F-386F-424F-B305-A3A5AC9A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005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449B3-C3A3-45E0-B6B7-48F1D37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Enabled only after lawful source, credentials, consent, and UAT proof.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647BB-8411-4090-A390-BD26F2DC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10050"/>
            <a:ext cx="636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ACB53-E144-425E-A8B6-B2261A77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617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Court adapters, case tracking providers, Outlook/Google, external email/SMS/WhatsApp delivery, Pine Labs live payments.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7BB73-C2C7-4465-B97E-735984DD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01BDD-8641-4D21-BE90-E089BE6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F30468-4A9F-4D5A-8CBF-D707062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04505F-4E81-435F-B74E-A87B4350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Roadmap, not live-pilot promise.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105716-EA59-41E2-BBF6-C212F12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636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BF582A-976A-4EF0-837F-4CB9563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0150"/>
            <a:ext cx="617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Full OIDC/SAML SSO, SCIM, private enterprise deployment, autonomous scoped-agent execution.</a:t>
            </a:r>
          </a:p>
        </p:txBody>
      </p:sp>
    </p:spTree>
    <p:extLst>
      <p:ext uri="{BB962C8B-B14F-4D97-AF65-F5344CB8AC3E}">
        <p14:creationId xmlns:p14="http://schemas.microsoft.com/office/powerpoint/2010/main" val="14933713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AF851-EA3B-4938-98C6-AF37CE05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PROOF 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26E2-2A2C-4298-AAFC-82BCF04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Use product evidence the firm can verify.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4BB70-01F9-47B4-BFF6-E8018753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is strongest when it sells workflow breadth, review gates, auditability, and explicit readiness labels. Unsourced performance claims do not belong in the pitch.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9C96A-D707-4CFA-8F7A-CF32B690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96E6A-9F78-4177-82BD-4425DA2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3AEE5-9DD8-4773-836D-D80F3B05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562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447F4-8BD6-4408-8DE5-1E898E2D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2A2C2-D6BA-4907-944D-28E208A6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draft templates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BBAA3-8997-4825-814B-756D4D95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Drafting Studio pack including Supreme Court escalation templates.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F9DDF-0CCD-4DFB-916F-D9E6F4A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562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66511-EB1A-48CD-9539-04FC6B3C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7 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EDFA2-3A77-4AC9-A921-CE9062DB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statute catalog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BF790-CA7F-4A78-8555-3BD05FA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BNSS, BNS, BSA, CrPC, IPC, Constitution, and NI 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8C36B-9E56-422A-B079-AAC3C4F9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3562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D0B6F-AE25-4AC2-BCE1-855014A2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041DA-0FA4-48D8-A1F4-6E184D9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statute sections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46198-3F0B-47C7-A6CD-3FCEF1BE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Public product copy says sections carry bare text and source links.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05740-A276-46BA-B385-DBF5BD3C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3562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34731-93D9-406A-A9DF-03B7268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E3914-03DD-4827-B13D-B2A9962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narrow agents today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FA245-D321-4F97-B80C-7A875E06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Cause-list watcher, corpus ingest, structured extraction, document retry.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31DBE-C4AD-4F69-8EDE-80444B5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81450"/>
            <a:ext cx="3562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5E1A7-960C-4FF8-88CE-3BC30B20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250-2,500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6CD72-36A6-4A50-9255-142C25C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tracked-case quotas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9B8C4-CEA2-4514-A6AE-8A129F17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Law-firm plans scale from Starter to Pro tracked-case entitlements.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5ACD6-D69D-4F24-B308-C209A12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3562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8C5DC-2FB8-4513-880C-87B0AA3A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16:00-18:00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E6680-C28D-4843-9859-F94173AF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01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refresh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CD165-159B-4B35-9102-A6969C9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149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Tracked-case refresh runs in the Asia/Kolkata daily window.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90314-CBE5-4C4E-8806-FE4975A1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Sources: CaseOps public law-firms page, README, GBA guide, and billing explainer reviewed 2026-07-10.</a:t>
            </a:r>
          </a:p>
        </p:txBody>
      </p:sp>
    </p:spTree>
    <p:extLst>
      <p:ext uri="{BB962C8B-B14F-4D97-AF65-F5344CB8AC3E}">
        <p14:creationId xmlns:p14="http://schemas.microsoft.com/office/powerpoint/2010/main" val="16697055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4C338-855F-4A9C-8CC7-D3E20539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BUSINESS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6095E-3A5A-493F-B702-9E2A628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ROI case should be validated in a live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36C61-851F-4341-80D6-82F57A1A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external research as a benchmark, then let the firm's own matters prove time saved, review quality, deadline confidence, and billing discipline.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52DD1-B43E-4B94-8A52-12D823AA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DDBC8-8FF7-474B-8D07-70907C3D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45AAD-6438-49B9-8AB2-4AC45D68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334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0CC8C-635C-4B9E-B5A0-562EC215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Measured pilot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05B9E-251D-474A-A78D-F9A4EB1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887D2-A33C-434D-818C-388CF1E1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15 lawyers in one practice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01E86-47D3-44AD-804B-ACE97558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209DF-3EBF-469F-A882-3F4834C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30 minutes reclaimed per lawyer per workday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3BA82-0EC7-428C-9345-9D3292A9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2364E-82AA-4E7B-8269-E81CE1D1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220 working days per year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150F1-657D-4FE0-B72C-74D20C0D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25CD5-D78D-4D43-8B52-FD917B7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1,650 hours/year in pilot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25996-CA45-4CED-861A-ED2990AB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1597A-94E5-4A68-B32C-3075D453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434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Compare with 240 hours/year external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05D43-4FDB-48FF-B7F2-B254020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5524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C200-0CDC-4C69-9ACE-27DC364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the firm gets 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A7FF7-9A16-4BED-8ACC-C62B6282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7C65E-AC49-453E-B317-568209D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More matters handled without immediate headcount expansion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20635-DC92-475A-A122-7983051B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CF491-1F3A-4F26-B433-F6732512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Faster first-draft and hearing-pack cycles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94A71-0FAA-42ED-85A8-9C518103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B8218-135B-42FB-90F3-BB5DE686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005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Partner review focused on judgment, not assembly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74DB5-1A20-4DC2-AEBF-69287968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DC01A-E554-48F2-A08E-21A314EA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Better recoveries through matter-linked billing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40A6F-BBD2-4F1B-9D58-71A42ABD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FD248-8D8A-41DA-A5F0-DA05AFB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86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Cleaner audit evidence for clients and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78FA4-876D-4E24-B6C5-527432B7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Model is an assumption to validate during pilot; external benchmark from Thomson Reuters Future of Professionals 2025.</a:t>
            </a:r>
          </a:p>
        </p:txBody>
      </p:sp>
    </p:spTree>
    <p:extLst>
      <p:ext uri="{BB962C8B-B14F-4D97-AF65-F5344CB8AC3E}">
        <p14:creationId xmlns:p14="http://schemas.microsoft.com/office/powerpoint/2010/main" val="5287573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2C19B-D44F-4016-BC05-9D92D96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PILOT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1C4BF-DED4-4CA3-BA13-6A9A8E1A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Six weeks to a credible law-firm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845CD-991A-420B-854E-48DCA98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strong pilot proves one practice group's real workflows before the firm makes a broader platform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EE3DA-ED68-4963-A33C-6B2CEEAB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E9E9F-0CD0-411D-BF96-E1ECE15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B98F2-B13E-4BCF-A5A8-C3000074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905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E66AB-F2DF-41C6-B88A-EF9B3540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1AAFB-C943-4F8B-A290-4F1132F0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68136-D8FD-49B8-99B1-CCA1640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Pick one practice group, 10-25 active matters, roles, and success measures.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2EB9D-F244-49E6-86C8-2E6463F2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38400"/>
            <a:ext cx="1905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67D18-12E7-42B4-B638-3B534C42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45C4C-9677-46BF-A815-ED68F4F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2EFF7-09C9-4E17-BDC7-CFA7455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Workspace, users, sample matters, security policy, AI budgets, templates, and billing profile.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07388-8EC2-42F3-8948-4F03E17A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1905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7BFEB-D514-48A8-8064-7C3C0B4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7EA4B-0ABC-4949-8DC1-A8A122FD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Matter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29A22-955D-426D-8357-5CD6763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5285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Upload documents, run drafting, research, hearing packs, and cause-list/court-order 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1E30E-8774-412B-9A0A-DD3C6B8E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38400"/>
            <a:ext cx="1905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BB916-1A0F-44A2-84FF-3715F54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4-5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FF97C-E541-435E-B263-1212B4B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273EC-7E35-4BDC-82DB-B5B08011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5285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audit export, access walls, billing state, readiness labels, and objections.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E4824-1036-4B1E-B2D1-12CF582A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38400"/>
            <a:ext cx="1905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C9F4A-BC80-433B-8B3E-CB1A9BD3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5FE62-8F9B-47A0-9D61-BF26E15B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BA9A3-7F25-447A-9585-2CD4B065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5285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Score adoption, time saved, risk controls, data migration, and rollout plan.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5577A-B64C-4CAA-B6E8-2EEC828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Pilot success measures: draft cycle time, hearing-pack completeness, citation review quality, deadline confidence, partner adoption, and billing-state visibility.</a:t>
            </a:r>
          </a:p>
        </p:txBody>
      </p:sp>
    </p:spTree>
    <p:extLst>
      <p:ext uri="{BB962C8B-B14F-4D97-AF65-F5344CB8AC3E}">
        <p14:creationId xmlns:p14="http://schemas.microsoft.com/office/powerpoint/2010/main" val="2616258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AC975-3EEC-436E-8E7E-1F0FB847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BUYING COMMITTEE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072D7-1274-45BF-8458-8261D86E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Each stakeholder has a reason to say yes.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2414E-4222-4266-BAAA-58E376F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deck should speak to the whole decision room, not just the technology sponsor.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17DA3-5810-47B8-8CD5-CD0620A3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B6783-FF52-4B28-BAA6-EF0F9E3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5B620-330A-4C78-B454-ECE7028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4EA7F-A0C5-4DBF-9299-4843761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67FED-FCA8-47AF-8E92-DF00ACB0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Managing partner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3A00A-5A1D-4CAC-8091-17001EE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More capacity, stronger review, better visibility, partner-led governance.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11ECB-2A15-4B02-920E-CEE084B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AD5D8-E56E-4A04-8C1E-CB76E94A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95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4F8B1-F753-40E3-9A56-C2510B2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Litigation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AB174-6005-477C-B9E5-557B67BD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Faster prep, cleaner chronology, better first drafts, fewer missed directions.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148D1-18BD-4999-B1DD-82944F0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480DE-C314-4C2F-9E95-7ACA52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7A69D-7142-4CF8-85DB-28B8807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Associates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9F072-3AC4-4CE5-BBA4-6F82939C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Less repetitive assembly, better research trail, clearer review expectations.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811C1-9AB4-4F7D-9D3A-DB284A9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42939-A71E-4757-8E73-581D42FA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F61B5-34CB-48EF-A779-C3A592E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Firm admin and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4B6FA-1957-4756-96B4-A7726CA7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Billing profile, invoice PDFs, recoveries, spend, audit, export readiness.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84163-7025-4495-A6BB-A4837D3A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40E78-0669-4902-9E4A-F9DF38F2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B0DDE-C67F-4E9D-B079-05AE2C0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IT and security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04ED1-2FC6-4CAB-89D8-38DC4419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Tenant scoping, ethical walls, model policy, provider-gated controls, no cross-tenant training.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29D1E-66C0-4B64-8034-D98A7595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3562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690944-5CD4-4455-A1E8-4463EE36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873A3-04F3-4EFA-8E44-7CF0605C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Clients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D9CF87-95DD-4BE3-9186-F5915463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9580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Faster turnaround, traceable work, cleaner reporting, scoped portal access.</a:t>
            </a:r>
          </a:p>
        </p:txBody>
      </p:sp>
    </p:spTree>
    <p:extLst>
      <p:ext uri="{BB962C8B-B14F-4D97-AF65-F5344CB8AC3E}">
        <p14:creationId xmlns:p14="http://schemas.microsoft.com/office/powerpoint/2010/main" val="3145794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FE681-CE53-4125-BC24-93E16467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COMPETITIVE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C00A1-5A06-47E7-AA53-C497E29D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CaseOps is not another point tool.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E0E27-409C-4A5C-91B8-A37A2F6C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It can sit alongside research databases, document storage, and office suites while becoming the system that turns those inputs into legal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4A9D3-9018-4DB6-8AD1-C111E15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A5070-77AA-45FE-948B-EBBCFEC7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1CEA9-4463-4F88-BBDF-3D175A12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030EE-5D5F-47CA-A41C-91DA3A3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75CD7-1049-4FBE-BD8C-1031611C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050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B8547-3F08-44FE-88D5-37DD6BB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19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it does well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439BA-5B54-466D-A409-5F4F1BD8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ADFF0-A668-421E-B650-4E18455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9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it misses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3B656-EBBC-4109-944A-884824B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7A48A-3BF6-472D-86F7-83826595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CaseOps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33C46-8E34-4F34-A993-1C5EFD31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21336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69DB9-D638-4042-BFCA-8E8D7362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9431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Generic AI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823A6-3E8F-4984-AC94-366078D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4320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6EB4F-D0CB-454A-9E50-550E25E0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Fast text generation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84BB1-EB98-4A98-8E18-6B78C27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C90D0-4C39-4B8A-9B8D-153A4E04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3845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matter graph, citations, access control, or workflow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AC4F7-28D9-4E5A-B779-01CAA68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35433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1EB92-7F23-4C8F-A1AA-ED86113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33528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AI inside reviewable legal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A8749-C69D-434F-A88E-8AAB4282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9940"/>
            <a:ext cx="21336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B2A70-FFEF-44CB-8F22-4616E896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5190"/>
            <a:ext cx="19431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Practice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F39BE-6775-465F-9F88-F2BD227F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2994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68141-9FFE-4514-857C-2C4E1E72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519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Tasks, calendar, contacts, billing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CEF8E-01CD-4EC7-8380-4F4C8610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2994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1B632-1503-4098-A1DB-A7623C02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519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Weak legal intelligence and AI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E4E0D-E4C4-4EC8-A8C6-2B39C03E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29940"/>
            <a:ext cx="35433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2F220C-5599-4760-A67C-0AFDF263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5190"/>
            <a:ext cx="33528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Put matter ops and legal work on one record.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55DA5-9814-4E89-85CC-AE2101F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6680"/>
            <a:ext cx="21336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2F69B-DFC5-4FE1-819E-AA9DB87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1930"/>
            <a:ext cx="19431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Research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EE1BE-A9F9-44FD-9772-11E36AD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668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2563CA-ED10-4FDE-95D7-51D55016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1193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Corpus and authority discovery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AC59F-D69C-4D81-ADD8-8FFA2C9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1668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172139-D271-44C1-B224-EDE34AF3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193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Not the firm's operating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E254E1-2E3E-4D13-8D3C-331B9593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16680"/>
            <a:ext cx="35433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E50F5-43E2-4651-A8CE-2ED67CE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1930"/>
            <a:ext cx="33528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Bring citations into drafts, recommendations, and hearings.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745F5-2747-4777-A513-76768AD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3420"/>
            <a:ext cx="21336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EF0184-8A01-4B20-B7AE-483805E8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8670"/>
            <a:ext cx="19431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Contract tools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DFCB0D-225F-4992-861F-774897DF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0342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3E7273-A0A3-4796-A431-A33CBCCA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9867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Clause review and playbooks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30AB3-CC46-4C51-908B-7641F165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0342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B25C1B-3D74-4E9A-898B-9FD5DA0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9867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Often isolated from litigation and portfolio ops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EFC948-CFF0-475D-9F16-282EBBB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03420"/>
            <a:ext cx="35433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F825E8-B7BF-4727-8101-C8A465E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98670"/>
            <a:ext cx="33528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Attach obligations and deviations to matter context.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2C53FA-A085-459A-B81E-28EF4F45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0160"/>
            <a:ext cx="21336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F1B82E-3473-43ED-B69D-71E7E15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5410"/>
            <a:ext cx="19431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DMS and email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1CDB9B-ABCA-4815-8691-CFC4F66F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016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0784C4-1091-4EB7-8049-ED66E0A6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8541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Storage and communications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C08B35-40E8-42F8-8BCA-DEDC2F01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90160"/>
            <a:ext cx="28575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04E5A7-5CDB-49F8-8026-783F7649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85410"/>
            <a:ext cx="26670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structured legal decision layer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6069D3-0CC3-4E7D-B452-055CE843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90160"/>
            <a:ext cx="354330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F75780-9EA7-4D81-9AEB-3E17AABD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85410"/>
            <a:ext cx="33528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Convert documents and messages into reviewable work.</a:t>
            </a:r>
          </a:p>
        </p:txBody>
      </p:sp>
    </p:spTree>
    <p:extLst>
      <p:ext uri="{BB962C8B-B14F-4D97-AF65-F5344CB8AC3E}">
        <p14:creationId xmlns:p14="http://schemas.microsoft.com/office/powerpoint/2010/main" val="12109869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A18C1-EA23-4275-9CF9-439B2B9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COMMERCIAL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1C738-997D-4038-8873-EDABF793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Pilot pricing lets firms prove value before firmwide rollout.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4981-7DB2-475A-A76D-E2BD4905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catalog can support simple law-firm entry and a path to enterprise deployment discussions.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2A35-6750-49DA-A8E1-3ACA0E8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ABFEF-553E-4BE6-8998-1AB056F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9B0E-5AFF-41F5-A504-285F8AC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9EEDC-E053-466B-8F84-2B4A86B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Firm Starter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E9AEF-8C03-4922-B5D1-4ACE296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INR 5,999/mo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475BC-2DF9-4F5F-9F12-7C76BD5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 users, 300 matters, 250 tracked cases, 25 GB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D6A32-F741-4A2D-B2DC-915B2D97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B360E-7CDD-433B-9AB0-60D6102C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Firm 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D5364-AA89-4066-A127-B3021589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INR 19,999/mo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5BFB5-9A1A-4B11-8BEA-8C8B1965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15 users, 10 viewers, 1,500 matters, 1,000 tracked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50263-F8A5-4E13-987C-6E5B02AA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A93FA-7C62-4F2C-BC9A-E6FB527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Firm Pro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A49D4-5D56-449D-A723-B25E6C3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INR 49,999/mo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909E9-D691-4169-A8C4-293EA47D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50 users, 50 viewers, 5,000 matters, API access, SSO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0670B-C180-45FC-AB07-EA06CE09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6DDBD-7D23-4068-8BF3-4F926E4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73095-11F0-4FDE-92A7-1536F74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Custom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7C2DA-72FB-4173-B369-C7DD41B5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Unlimited/contract-defined, private deployment planning, security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126A5-304A-4441-A5D1-CF2F12E7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Recommended sales motion: start with one practice group, lock pilot terms, then expand by matter volume, users, storage, AI credits, and security posture.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1FD3B-AC66-43CC-96A1-705F78C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37373"/>
                </a:solidFill>
                <a:latin typeface="Helvetica Neue"/>
                <a:ea typeface="Helvetica Neue"/>
                <a:cs typeface="Helvetica Neue"/>
              </a:rPr>
              <a:t>Source: CaseOps billing catalog documentation reviewed 2026-07-10. Prices are pilot/catalog terms, subject to contract.</a:t>
            </a:r>
          </a:p>
        </p:txBody>
      </p:sp>
    </p:spTree>
    <p:extLst>
      <p:ext uri="{BB962C8B-B14F-4D97-AF65-F5344CB8AC3E}">
        <p14:creationId xmlns:p14="http://schemas.microsoft.com/office/powerpoint/2010/main" val="12776138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B53B5-9CD4-48B5-A9F6-5262E9B1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OBJECTIONS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8B8F2-6D08-4908-BC35-8A1AAEF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hard questions have answers.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67919-8F9A-44F3-801A-3E3F277E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Law-firm buyers will ask about accuracy, adoption, confidentiality, integrations, migration, and money. Answer directly.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24DF6-9C24-4395-B865-5E82292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FF9E8-3FB1-4853-9C0D-168E12D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FB951-24E3-4181-BF1A-D66AA01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52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064A-FD5B-430C-A18C-8191C241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BAE87-34C1-4FE3-A850-888367C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Will AI hallucinate?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BE5F3-B514-44B0-816D-CB7C9C5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Grounding, refusal states, verified citations, placeholders, and lawyer approval are built into substantive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DB0F8-361E-4E1C-AF0D-9167752F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52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1241C-F1BF-40E4-9D4C-19A5BC21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38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DB57B-D27B-48B3-B694-0D05206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Is our data safe?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FE475-FFAF-457C-88CF-E04B284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86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Tenant isolation, ethical walls, no cross-tenant training by default, redacted audit, and provider-gated integrations.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87042-3B99-4B58-96CA-6A0B508A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552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42771-5120-43B0-86A3-42A01651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8145A-803A-40D9-8B21-E4FBB56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Will lawyers adopt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D5D15-02D3-4CE8-8E0B-31F5DD46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Start from matter workflows they already run: drafts, hearings, research, cause lists, billing, and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A115C-544D-4502-8E5D-803BD48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552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94460-AF71-426B-A90A-021EA7B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B4DDD-244A-4CBD-BA0E-73A75D5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Can it integrate?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DA9A4-9EAD-446F-AE41-35F568C8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43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bounded provider workflows first. Enable Outlook, Google, court sources, and payments only after readiness and UAT.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58A9C-66EE-4649-B1DC-01C8A0F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552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07B6B-5B8F-480F-9195-17EC102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EC6A0-8D9F-42AB-AFF9-5EEBFAE1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How hard is migration?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479E8-F61F-4E27-B82C-676B0818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Pilot with 10-25 matters, dry-run bulk import, Drive metadata planning, and scoped document upload.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77E9D-B9DE-4148-8E46-00297DBA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24400"/>
            <a:ext cx="552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C17B8-D43E-42D9-AD88-5C1022E1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9709E-A7D9-4283-9E1C-E3593C6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958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Will it hurt billing?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C078E-D602-4A9A-8A33-7C1D4BF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00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Reclaimed time can become capacity, alternative fees, faster turnaround, better collections, and cleaner realization.</a:t>
            </a:r>
          </a:p>
        </p:txBody>
      </p:sp>
    </p:spTree>
    <p:extLst>
      <p:ext uri="{BB962C8B-B14F-4D97-AF65-F5344CB8AC3E}">
        <p14:creationId xmlns:p14="http://schemas.microsoft.com/office/powerpoint/2010/main" val="10333945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056CE-EBC9-4539-A19E-820303E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DEB4D-2BA7-46B0-AFCE-7F666EB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with one practice group and ten real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0D7C3-7F16-4B4F-AF49-4FFF688D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DA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7DADF"/>
                </a:solidFill>
                <a:latin typeface="Helvetica Neue"/>
                <a:ea typeface="Helvetica Neue"/>
                <a:cs typeface="Helvetica Neue"/>
              </a:rPr>
              <a:t>The cleanest close is a focused pilot: small enough to run quickly, real enough to prove whether CaseOps changes daily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42C62-091F-4CD5-9796-0C62F06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AA4F2-A187-40F0-9935-47784C7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35F32-3958-46B0-A7CC-566820BB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5143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871A2-66F3-499B-A445-90BAE2C8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C7A8B-67DE-4F9A-968C-5CAEB04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A 45-minute founder-led walkthrough, followed by a pilot workspace seeded with the firm's sample matters, templates, users, and access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0B4DC-00D2-42F7-91D3-BE0B82D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467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E97CD-49A9-4DE9-9623-8009AB5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Pilot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A9614-47B6-4911-BFCA-BE034202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4DBF0-3371-40B2-9B62-A32FB0F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575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10-25 active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E9311-FC68-4793-86CA-7794A9E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0F7BD-E584-4348-B422-6318EA84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242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4-6 lawyers plus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8D176-71FA-4665-924E-A2D1F15A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6941A-0A75-44EF-8877-EC7D1618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909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priority courts and practice areas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1BD27-84F5-4AD1-9BD6-92F104C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7F48B-9ACC-4CAD-A870-5898A8CE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576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templates and billing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F9394-58D0-4F2F-B490-2712E87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294E4-4114-40D4-BBA9-CA2390F5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security and readiness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8A8D1-F833-4602-BE67-97C7C5E0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Contact: mishra.sanjeev@gmail.com | caseops.ai</a:t>
            </a:r>
          </a:p>
        </p:txBody>
      </p:sp>
    </p:spTree>
    <p:extLst>
      <p:ext uri="{BB962C8B-B14F-4D97-AF65-F5344CB8AC3E}">
        <p14:creationId xmlns:p14="http://schemas.microsoft.com/office/powerpoint/2010/main" val="19135411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13316-F78A-4C2C-A8CD-82D6E1D4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D89AC-EFC5-4413-A0E0-53854AFA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Research and product sources used in this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561D-22D3-48D9-B500-C9CE5E6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External statistics support market timing and ROI framing. Product claims are grounded in CaseOps docs reviewed 2026-07-10.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6A04C-92D5-4F56-963A-9A5D00D2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CaseOps law firm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AE89A-6FEE-497E-8F2A-E3C913D7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64E51-68F6-4EBA-8B55-FCE028A5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052E1-497F-4DE8-86D6-BE9D17E9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Thomson Reuters Future of Professionals Report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B57C1-E811-4CC5-81AD-6D7552CC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https://www.thomsonreuters.com/content/dam/ewp-m/documents/thomsonreuters/en/pdf/reports/future-of-professionals-report-2025.pdf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35C43-2CA2-471C-825C-9606280F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E8375-585C-4AD4-9DAA-5E468BDC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NJDG live dashboards accessed 2026-07-10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3691D-2E3E-4E60-A3F0-9F5FC74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https://njdg.ecourts.gov.in/ | https://njdg.ecourts.gov.in/hcnjdg_v2/ | https://scdg.sci.gov.in/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23FD1-21D0-4CEC-A74D-5BAB9A4D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7FDF2-CFD1-4B3C-8626-6954527F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PIB note on NJDG as the national case-data 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5291C-6E4F-45C9-906B-7CB8E3FD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48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https://www.pib.gov.in/PressReleasePage.aspx?PRID=1957318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2C758-9DFF-40E9-BB09-75E0886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139A5-029D-4DA0-BB90-B75C44AE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PIB e-Courts Phase III outlay and digitization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53F2-9943-450D-BF5B-D7036033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https://www.pib.gov.in/PressReleasePage.aspx?PRID=2040232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2D029-EDD0-4460-926D-928D9C8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BA8DC-4B26-4C0D-B70D-A1426B2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CaseOps public law-firms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D6B1F-BAF3-4CBF-81DA-D3AF049B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https://caseops.ai/law-firms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D977A-7653-4E6A-B2DC-5666A37B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E3709-4336-47ED-B4C1-14E9B45F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CaseOps local repository and product docs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A104E-4239-4B60-A475-4663EAE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054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README.md, docs/PRD.md, GBA guide, billing explainer, ADP roadmap, marketing components</a:t>
            </a:r>
          </a:p>
        </p:txBody>
      </p:sp>
    </p:spTree>
    <p:extLst>
      <p:ext uri="{BB962C8B-B14F-4D97-AF65-F5344CB8AC3E}">
        <p14:creationId xmlns:p14="http://schemas.microsoft.com/office/powerpoint/2010/main" val="1908537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2026-07-10T03:53:42.5920000Z</dcterms:created>
  <dcterms:modified xsi:type="dcterms:W3CDTF">2026-07-10T03:53:42.5930000Z</dcterms:modified>
</coreProperties>
</file>